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4" r:id="rId2"/>
  </p:sldMasterIdLst>
  <p:notesMasterIdLst>
    <p:notesMasterId r:id="rId17"/>
  </p:notesMasterIdLst>
  <p:sldIdLst>
    <p:sldId id="256" r:id="rId3"/>
    <p:sldId id="257" r:id="rId4"/>
    <p:sldId id="258" r:id="rId5"/>
    <p:sldId id="260" r:id="rId6"/>
    <p:sldId id="263" r:id="rId7"/>
    <p:sldId id="264" r:id="rId8"/>
    <p:sldId id="265" r:id="rId9"/>
    <p:sldId id="266" r:id="rId10"/>
    <p:sldId id="267" r:id="rId11"/>
    <p:sldId id="268" r:id="rId12"/>
    <p:sldId id="269" r:id="rId13"/>
    <p:sldId id="271" r:id="rId14"/>
    <p:sldId id="272" r:id="rId15"/>
    <p:sldId id="27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121" d="100"/>
          <a:sy n="121" d="100"/>
        </p:scale>
        <p:origin x="744" y="17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264E151-85E5-4435-BFEF-2C10384EE33C}" type="datetimeFigureOut">
              <a:rPr lang="en-GB" smtClean="0"/>
              <a:t>25/10/2023</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9DAB67-66E3-4248-85AF-AF26631C5DD7}" type="slidenum">
              <a:rPr lang="en-GB" smtClean="0"/>
              <a:t>‹#›</a:t>
            </a:fld>
            <a:endParaRPr lang="en-GB"/>
          </a:p>
        </p:txBody>
      </p:sp>
    </p:spTree>
    <p:extLst>
      <p:ext uri="{BB962C8B-B14F-4D97-AF65-F5344CB8AC3E}">
        <p14:creationId xmlns:p14="http://schemas.microsoft.com/office/powerpoint/2010/main" val="2603111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E4A10E6-5E8C-4CD0-81FE-333CA8C603F7}" type="slidenum">
              <a:rPr lang="en-GB">
                <a:solidFill>
                  <a:prstClr val="black"/>
                </a:solidFill>
              </a:rPr>
              <a:pPr/>
              <a:t>13</a:t>
            </a:fld>
            <a:endParaRPr lang="en-GB">
              <a:solidFill>
                <a:prstClr val="black"/>
              </a:solidFill>
            </a:endParaRPr>
          </a:p>
        </p:txBody>
      </p:sp>
      <p:sp>
        <p:nvSpPr>
          <p:cNvPr id="79874" name="Rectangle 2"/>
          <p:cNvSpPr>
            <a:spLocks noGrp="1" noRot="1" noChangeAspect="1" noChangeArrowheads="1" noTextEdit="1"/>
          </p:cNvSpPr>
          <p:nvPr>
            <p:ph type="sldImg"/>
          </p:nvPr>
        </p:nvSpPr>
        <p:spPr>
          <a:xfrm>
            <a:off x="381000" y="685800"/>
            <a:ext cx="6096000" cy="3429000"/>
          </a:xfrm>
          <a:ln/>
        </p:spPr>
      </p:sp>
      <p:sp>
        <p:nvSpPr>
          <p:cNvPr id="798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521426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E94FE39-0867-4322-8675-D27CC41BDAD8}" type="datetimeFigureOut">
              <a:rPr lang="en-GB" smtClean="0"/>
              <a:t>25/10/2023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873EC9-F8F6-4B00-A278-F52F58F6D460}" type="slidenum">
              <a:rPr lang="en-GB" smtClean="0"/>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94FE39-0867-4322-8675-D27CC41BDAD8}" type="datetimeFigureOut">
              <a:rPr lang="en-GB" smtClean="0"/>
              <a:t>25/10/2023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873EC9-F8F6-4B00-A278-F52F58F6D460}"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94FE39-0867-4322-8675-D27CC41BDAD8}" type="datetimeFigureOut">
              <a:rPr lang="en-GB" smtClean="0"/>
              <a:t>25/10/2023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873EC9-F8F6-4B00-A278-F52F58F6D460}" type="slidenum">
              <a:rPr lang="en-GB" smtClean="0"/>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94FE39-0867-4322-8675-D27CC41BDAD8}" type="datetimeFigureOut">
              <a:rPr lang="en-GB" smtClean="0"/>
              <a:t>25/10/2023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7873EC9-F8F6-4B00-A278-F52F58F6D460}"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E94FE39-0867-4322-8675-D27CC41BDAD8}" type="datetimeFigureOut">
              <a:rPr lang="en-GB" smtClean="0"/>
              <a:t>25/10/2023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7873EC9-F8F6-4B00-A278-F52F58F6D460}"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E94FE39-0867-4322-8675-D27CC41BDAD8}" type="datetimeFigureOut">
              <a:rPr lang="en-GB" smtClean="0"/>
              <a:t>25/10/2023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7873EC9-F8F6-4B00-A278-F52F58F6D460}"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94FE39-0867-4322-8675-D27CC41BDAD8}" type="datetimeFigureOut">
              <a:rPr lang="en-GB" smtClean="0"/>
              <a:t>25/10/2023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7873EC9-F8F6-4B00-A278-F52F58F6D460}"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406399"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E94FE39-0867-4322-8675-D27CC41BDAD8}" type="datetimeFigureOut">
              <a:rPr lang="en-GB" smtClean="0"/>
              <a:t>25/10/2023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7873EC9-F8F6-4B00-A278-F52F58F6D460}" type="slidenum">
              <a:rPr lang="en-GB" smtClean="0"/>
              <a:t>‹#›</a:t>
            </a:fld>
            <a:endParaRPr lang="en-GB"/>
          </a:p>
        </p:txBody>
      </p:sp>
      <p:sp>
        <p:nvSpPr>
          <p:cNvPr id="9" name="Content Placeholder 8"/>
          <p:cNvSpPr>
            <a:spLocks noGrp="1"/>
          </p:cNvSpPr>
          <p:nvPr>
            <p:ph sz="quarter" idx="13"/>
          </p:nvPr>
        </p:nvSpPr>
        <p:spPr>
          <a:xfrm>
            <a:off x="406400" y="381000"/>
            <a:ext cx="103632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BE94FE39-0867-4322-8675-D27CC41BDAD8}" type="datetimeFigureOut">
              <a:rPr lang="en-GB" smtClean="0"/>
              <a:t>25/10/2023</a:t>
            </a:fld>
            <a:endParaRPr lang="en-GB"/>
          </a:p>
        </p:txBody>
      </p:sp>
      <p:sp>
        <p:nvSpPr>
          <p:cNvPr id="9" name="Slide Number Placeholder 8"/>
          <p:cNvSpPr>
            <a:spLocks noGrp="1"/>
          </p:cNvSpPr>
          <p:nvPr>
            <p:ph type="sldNum" sz="quarter" idx="11"/>
          </p:nvPr>
        </p:nvSpPr>
        <p:spPr/>
        <p:txBody>
          <a:bodyPr/>
          <a:lstStyle/>
          <a:p>
            <a:fld id="{87873EC9-F8F6-4B00-A278-F52F58F6D460}" type="slidenum">
              <a:rPr lang="en-GB" smtClean="0"/>
              <a:t>‹#›</a:t>
            </a:fld>
            <a:endParaRPr lang="en-GB"/>
          </a:p>
        </p:txBody>
      </p:sp>
      <p:sp>
        <p:nvSpPr>
          <p:cNvPr id="10" name="Footer Placeholder 9"/>
          <p:cNvSpPr>
            <a:spLocks noGrp="1"/>
          </p:cNvSpPr>
          <p:nvPr>
            <p:ph type="ftr" sz="quarter" idx="12"/>
          </p:nvPr>
        </p:nvSpPr>
        <p:spPr/>
        <p:txBody>
          <a:bodyPr/>
          <a:lstStyle/>
          <a:p>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94FE39-0867-4322-8675-D27CC41BDAD8}" type="datetimeFigureOut">
              <a:rPr lang="en-GB" smtClean="0"/>
              <a:t>25/10/2023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873EC9-F8F6-4B00-A278-F52F58F6D460}"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94FE39-0867-4322-8675-D27CC41BDAD8}" type="datetimeFigureOut">
              <a:rPr lang="en-GB" smtClean="0"/>
              <a:t>25/10/2023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873EC9-F8F6-4B00-A278-F52F58F6D460}" type="slidenum">
              <a:rPr lang="en-GB" smtClean="0"/>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5FFEDF5-D849-4AA1-9883-EB5F6F8D3234}" type="datetime1">
              <a:rPr lang="en-GB" smtClean="0"/>
              <a:pPr/>
              <a:t>25/10/2023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r>
              <a:rPr lang="en-GB"/>
              <a:t>Slide No </a:t>
            </a:r>
            <a:fld id="{5C979C0A-21EC-4A60-BDEA-2E9AC0077536}" type="slidenum">
              <a:rPr lang="en-GB" smtClean="0"/>
              <a:pPr/>
              <a:t>‹#›</a:t>
            </a:fld>
            <a:endParaRPr lang="en-GB"/>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B6B369-4F51-4371-A899-085BC79F3657}" type="datetime1">
              <a:rPr lang="en-GB" smtClean="0"/>
              <a:pPr/>
              <a:t>25/10/2023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r>
              <a:rPr lang="en-GB"/>
              <a:t>Slide No </a:t>
            </a:r>
            <a:fld id="{0BC71531-D0E7-4DFD-8425-807C2B395432}" type="slidenum">
              <a:rPr lang="en-GB" smtClean="0"/>
              <a:pPr/>
              <a:t>‹#›</a:t>
            </a:fld>
            <a:endParaRPr lang="en-GB"/>
          </a:p>
        </p:txBody>
      </p:sp>
    </p:spTree>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98800E-3B0B-4642-83DF-16608A0B26B7}" type="datetime1">
              <a:rPr lang="en-GB" smtClean="0"/>
              <a:pPr/>
              <a:t>25/10/2023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r>
              <a:rPr lang="en-GB"/>
              <a:t>Slide No </a:t>
            </a:r>
            <a:fld id="{9DCAAA30-DE41-48D7-9984-2C40F7B8FDB5}" type="slidenum">
              <a:rPr lang="en-GB" smtClean="0"/>
              <a:pPr/>
              <a:t>‹#›</a:t>
            </a:fld>
            <a:endParaRPr lang="en-GB"/>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062481-555F-4325-BB15-4D67D2A31D13}" type="datetime1">
              <a:rPr lang="en-GB" smtClean="0"/>
              <a:pPr/>
              <a:t>25/10/2023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r>
              <a:rPr lang="en-GB"/>
              <a:t>Slide No </a:t>
            </a:r>
            <a:fld id="{B4EA0A25-0BCF-4733-8672-7514BE89D961}" type="slidenum">
              <a:rPr lang="en-GB" smtClean="0"/>
              <a:pPr/>
              <a:t>‹#›</a:t>
            </a:fld>
            <a:endParaRPr lang="en-GB"/>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3FA60BD-7CA3-427C-9F43-B2698D09A36B}" type="datetime1">
              <a:rPr lang="en-GB" smtClean="0"/>
              <a:pPr/>
              <a:t>25/10/2023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r>
              <a:rPr lang="en-GB"/>
              <a:t>Slide No </a:t>
            </a:r>
            <a:fld id="{1549499A-6BCB-4F84-8061-44AE781CD4F7}" type="slidenum">
              <a:rPr lang="en-GB" smtClean="0"/>
              <a:pPr/>
              <a:t>‹#›</a:t>
            </a:fld>
            <a:endParaRPr lang="en-GB"/>
          </a:p>
        </p:txBody>
      </p:sp>
    </p:spTree>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8806571-0DAE-411E-81ED-4A3159BBA4B2}" type="datetime1">
              <a:rPr lang="en-GB" smtClean="0"/>
              <a:pPr/>
              <a:t>25/10/2023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r>
              <a:rPr lang="en-GB"/>
              <a:t>Slide No </a:t>
            </a:r>
            <a:fld id="{4FB18585-C5EF-45AF-A8B3-C8893ECF3B12}" type="slidenum">
              <a:rPr lang="en-GB" smtClean="0"/>
              <a:pPr/>
              <a:t>‹#›</a:t>
            </a:fld>
            <a:endParaRPr lang="en-GB"/>
          </a:p>
        </p:txBody>
      </p:sp>
    </p:spTree>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604173-6DDB-4045-8947-2FAA4D9848D0}" type="datetime1">
              <a:rPr lang="en-GB" smtClean="0"/>
              <a:pPr/>
              <a:t>25/10/2023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r>
              <a:rPr lang="en-GB"/>
              <a:t>Slide No </a:t>
            </a:r>
            <a:fld id="{DCA165D7-0219-48C2-88CD-02C0F5CCDC42}" type="slidenum">
              <a:rPr lang="en-GB" smtClean="0"/>
              <a:pPr/>
              <a:t>‹#›</a:t>
            </a:fld>
            <a:endParaRPr lang="en-GB"/>
          </a:p>
        </p:txBody>
      </p:sp>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406399"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A9C686-FB36-40B9-9853-E66FCE72F2D9}" type="datetime1">
              <a:rPr lang="en-GB" smtClean="0"/>
              <a:pPr/>
              <a:t>25/10/2023</a:t>
            </a:fld>
            <a:endParaRPr lang="en-GB"/>
          </a:p>
        </p:txBody>
      </p:sp>
      <p:sp>
        <p:nvSpPr>
          <p:cNvPr id="6" name="Footer Placeholder 5"/>
          <p:cNvSpPr>
            <a:spLocks noGrp="1"/>
          </p:cNvSpPr>
          <p:nvPr>
            <p:ph type="ftr" sz="quarter" idx="11"/>
          </p:nvPr>
        </p:nvSpPr>
        <p:spPr/>
        <p:txBody>
          <a:bodyPr/>
          <a:lstStyle/>
          <a:p>
            <a:endParaRPr lang="en-GB">
              <a:solidFill>
                <a:srgbClr val="637052"/>
              </a:solidFill>
            </a:endParaRPr>
          </a:p>
        </p:txBody>
      </p:sp>
      <p:sp>
        <p:nvSpPr>
          <p:cNvPr id="7" name="Slide Number Placeholder 6"/>
          <p:cNvSpPr>
            <a:spLocks noGrp="1"/>
          </p:cNvSpPr>
          <p:nvPr>
            <p:ph type="sldNum" sz="quarter" idx="12"/>
          </p:nvPr>
        </p:nvSpPr>
        <p:spPr/>
        <p:txBody>
          <a:bodyPr/>
          <a:lstStyle/>
          <a:p>
            <a:r>
              <a:rPr lang="en-GB">
                <a:solidFill>
                  <a:srgbClr val="637052"/>
                </a:solidFill>
              </a:rPr>
              <a:t>Slide No </a:t>
            </a:r>
            <a:fld id="{725B9B69-F3F1-4F39-8012-1EF335B26694}" type="slidenum">
              <a:rPr lang="en-GB" smtClean="0">
                <a:solidFill>
                  <a:srgbClr val="637052"/>
                </a:solidFill>
              </a:rPr>
              <a:pPr/>
              <a:t>‹#›</a:t>
            </a:fld>
            <a:endParaRPr lang="en-GB">
              <a:solidFill>
                <a:srgbClr val="637052"/>
              </a:solidFill>
            </a:endParaRPr>
          </a:p>
        </p:txBody>
      </p:sp>
      <p:sp>
        <p:nvSpPr>
          <p:cNvPr id="9" name="Content Placeholder 8"/>
          <p:cNvSpPr>
            <a:spLocks noGrp="1"/>
          </p:cNvSpPr>
          <p:nvPr>
            <p:ph sz="quarter" idx="13"/>
          </p:nvPr>
        </p:nvSpPr>
        <p:spPr>
          <a:xfrm>
            <a:off x="406400" y="381000"/>
            <a:ext cx="103632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C5B9252F-F066-48F5-A361-51FAC9CC021B}" type="datetime1">
              <a:rPr lang="en-GB" smtClean="0"/>
              <a:pPr/>
              <a:t>25/10/2023</a:t>
            </a:fld>
            <a:endParaRPr lang="en-GB"/>
          </a:p>
        </p:txBody>
      </p:sp>
      <p:sp>
        <p:nvSpPr>
          <p:cNvPr id="9" name="Slide Number Placeholder 8"/>
          <p:cNvSpPr>
            <a:spLocks noGrp="1"/>
          </p:cNvSpPr>
          <p:nvPr>
            <p:ph type="sldNum" sz="quarter" idx="11"/>
          </p:nvPr>
        </p:nvSpPr>
        <p:spPr/>
        <p:txBody>
          <a:bodyPr/>
          <a:lstStyle/>
          <a:p>
            <a:r>
              <a:rPr lang="en-GB"/>
              <a:t>Slide No </a:t>
            </a:r>
            <a:fld id="{8F11CCC3-3F1C-437B-8880-F1A54E679685}" type="slidenum">
              <a:rPr lang="en-GB" smtClean="0"/>
              <a:pPr/>
              <a:t>‹#›</a:t>
            </a:fld>
            <a:endParaRPr lang="en-GB"/>
          </a:p>
        </p:txBody>
      </p:sp>
      <p:sp>
        <p:nvSpPr>
          <p:cNvPr id="10" name="Footer Placeholder 9"/>
          <p:cNvSpPr>
            <a:spLocks noGrp="1"/>
          </p:cNvSpPr>
          <p:nvPr>
            <p:ph type="ftr" sz="quarter" idx="12"/>
          </p:nvPr>
        </p:nvSpPr>
        <p:spPr/>
        <p:txBody>
          <a:bodyPr/>
          <a:lstStyle/>
          <a:p>
            <a:endParaRPr lang="en-GB"/>
          </a:p>
        </p:txBody>
      </p:sp>
    </p:spTree>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E4A284-4F0D-4A92-9F21-6750BD72951C}" type="datetime1">
              <a:rPr lang="en-GB" smtClean="0"/>
              <a:pPr/>
              <a:t>25/10/2023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r>
              <a:rPr lang="en-GB"/>
              <a:t>Slide No </a:t>
            </a:r>
            <a:fld id="{A746E366-580E-43A4-A4E2-2AB87CDCC31F}" type="slidenum">
              <a:rPr lang="en-GB" smtClean="0"/>
              <a:pPr/>
              <a:t>‹#›</a:t>
            </a:fld>
            <a:endParaRPr lang="en-GB"/>
          </a:p>
        </p:txBody>
      </p:sp>
    </p:spTree>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50E95A-59F2-4DE2-9631-E994E4F247EB}" type="datetime1">
              <a:rPr lang="en-GB" smtClean="0"/>
              <a:pPr/>
              <a:t>25/10/2023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r>
              <a:rPr lang="en-GB"/>
              <a:t>Slide No </a:t>
            </a:r>
            <a:fld id="{EDE7E212-0CA6-4260-9D45-0F62EA604122}" type="slidenum">
              <a:rPr lang="en-GB" smtClean="0"/>
              <a:pPr/>
              <a:t>‹#›</a:t>
            </a:fld>
            <a:endParaRPr lang="en-GB"/>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16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p:nvPr userDrawn="1"/>
        </p:nvSpPr>
        <p:spPr>
          <a:xfrm>
            <a:off x="1127760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p:cNvSpPr/>
          <p:nvPr/>
        </p:nvSpPr>
        <p:spPr>
          <a:xfrm>
            <a:off x="11277600" y="5486400"/>
            <a:ext cx="9144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87873EC9-F8F6-4B00-A278-F52F58F6D460}" type="slidenum">
              <a:rPr lang="en-GB" smtClean="0"/>
              <a:t>‹#›</a:t>
            </a:fld>
            <a:endParaRPr lang="en-GB" dirty="0"/>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endParaRPr lang="en-GB"/>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fld id="{BE94FE39-0867-4322-8675-D27CC41BDAD8}" type="datetimeFigureOut">
              <a:rPr lang="en-GB" smtClean="0"/>
              <a:t>25/10/2023</a:t>
            </a:fld>
            <a:endParaRPr lang="en-GB"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16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1127760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p:nvSpPr>
        <p:spPr>
          <a:xfrm>
            <a:off x="11277600" y="5486400"/>
            <a:ext cx="9144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87873EC9-F8F6-4B00-A278-F52F58F6D460}" type="slidenum">
              <a:rPr lang="en-GB" smtClean="0"/>
              <a:t>‹#›</a:t>
            </a:fld>
            <a:endParaRPr lang="en-GB" dirty="0"/>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endParaRPr lang="en-GB"/>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fld id="{BE94FE39-0867-4322-8675-D27CC41BDAD8}" type="datetimeFigureOut">
              <a:rPr lang="en-GB" smtClean="0"/>
              <a:t>25/10/2023</a:t>
            </a:fld>
            <a:endParaRPr lang="en-GB"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fade/>
  </p:transition>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Introduction to Legislation</a:t>
            </a:r>
          </a:p>
        </p:txBody>
      </p:sp>
      <p:sp>
        <p:nvSpPr>
          <p:cNvPr id="3" name="Subtitle 2"/>
          <p:cNvSpPr>
            <a:spLocks noGrp="1"/>
          </p:cNvSpPr>
          <p:nvPr>
            <p:ph type="subTitle" idx="1"/>
          </p:nvPr>
        </p:nvSpPr>
        <p:spPr/>
        <p:txBody>
          <a:bodyPr/>
          <a:lstStyle/>
          <a:p>
            <a:r>
              <a:rPr lang="en-GB" dirty="0"/>
              <a:t>H17F34 Professionalism and Ethics in Computing</a:t>
            </a:r>
          </a:p>
        </p:txBody>
      </p:sp>
    </p:spTree>
    <p:extLst>
      <p:ext uri="{BB962C8B-B14F-4D97-AF65-F5344CB8AC3E}">
        <p14:creationId xmlns:p14="http://schemas.microsoft.com/office/powerpoint/2010/main" val="2368786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are laws?</a:t>
            </a:r>
          </a:p>
        </p:txBody>
      </p:sp>
      <p:sp>
        <p:nvSpPr>
          <p:cNvPr id="3" name="Content Placeholder 2"/>
          <p:cNvSpPr>
            <a:spLocks noGrp="1"/>
          </p:cNvSpPr>
          <p:nvPr>
            <p:ph sz="half" idx="1"/>
          </p:nvPr>
        </p:nvSpPr>
        <p:spPr/>
        <p:txBody>
          <a:bodyPr>
            <a:normAutofit/>
          </a:bodyPr>
          <a:lstStyle/>
          <a:p>
            <a:r>
              <a:rPr lang="en-GB" dirty="0"/>
              <a:t>Formalised sets of rules for regulating the behaviour of individuals and organisations in  society.  </a:t>
            </a:r>
          </a:p>
          <a:p>
            <a:r>
              <a:rPr lang="en-GB" dirty="0"/>
              <a:t>Individual legal systems have evolved in different ways and adopted varying approaches and conventions.  </a:t>
            </a:r>
          </a:p>
        </p:txBody>
      </p:sp>
      <p:pic>
        <p:nvPicPr>
          <p:cNvPr id="1029" name="Picture 5" descr="C:\Users\aurelienammeloot\AppData\Local\Microsoft\Windows\Temporary Internet Files\Content.IE5\FD34362G\Law[1].jpg"/>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bwMode="auto">
          <a:xfrm>
            <a:off x="5943600" y="2183011"/>
            <a:ext cx="3657600" cy="3296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8228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UK Legal systems</a:t>
            </a:r>
          </a:p>
        </p:txBody>
      </p:sp>
      <p:sp>
        <p:nvSpPr>
          <p:cNvPr id="3" name="Content Placeholder 2"/>
          <p:cNvSpPr>
            <a:spLocks noGrp="1"/>
          </p:cNvSpPr>
          <p:nvPr>
            <p:ph sz="half" idx="1"/>
          </p:nvPr>
        </p:nvSpPr>
        <p:spPr/>
        <p:txBody>
          <a:bodyPr/>
          <a:lstStyle/>
          <a:p>
            <a:r>
              <a:rPr lang="en-GB" dirty="0"/>
              <a:t>The legal system of the United Kingdom is really three separate systems </a:t>
            </a:r>
          </a:p>
          <a:p>
            <a:r>
              <a:rPr lang="en-GB" dirty="0"/>
              <a:t>England and Wales share one system </a:t>
            </a:r>
          </a:p>
          <a:p>
            <a:r>
              <a:rPr lang="en-GB" dirty="0"/>
              <a:t>Scotland and NI each have separate systems.  </a:t>
            </a: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943600" y="2917031"/>
            <a:ext cx="3657600" cy="1828800"/>
          </a:xfrm>
        </p:spPr>
      </p:pic>
    </p:spTree>
    <p:extLst>
      <p:ext uri="{BB962C8B-B14F-4D97-AF65-F5344CB8AC3E}">
        <p14:creationId xmlns:p14="http://schemas.microsoft.com/office/powerpoint/2010/main" val="3815378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GB"/>
              <a:t>The English Legal System</a:t>
            </a:r>
          </a:p>
        </p:txBody>
      </p:sp>
      <p:sp>
        <p:nvSpPr>
          <p:cNvPr id="6147" name="Rectangle 3"/>
          <p:cNvSpPr>
            <a:spLocks noGrp="1" noChangeArrowheads="1"/>
          </p:cNvSpPr>
          <p:nvPr>
            <p:ph idx="1"/>
          </p:nvPr>
        </p:nvSpPr>
        <p:spPr/>
        <p:txBody>
          <a:bodyPr/>
          <a:lstStyle/>
          <a:p>
            <a:r>
              <a:rPr lang="en-GB" dirty="0"/>
              <a:t>The English system is a common law system. </a:t>
            </a:r>
          </a:p>
          <a:p>
            <a:r>
              <a:rPr lang="en-GB" dirty="0"/>
              <a:t>The law developed by using the decision of a judge in a particular case as a guide or precedent (referred to case law) for how similar cases should be decided.  </a:t>
            </a:r>
          </a:p>
          <a:p>
            <a:r>
              <a:rPr lang="en-GB" dirty="0"/>
              <a:t>Subsequently the law developed can be through parliamentary legislation (statutes) but the use of precedence is still fundamentally important. </a:t>
            </a:r>
          </a:p>
        </p:txBody>
      </p:sp>
    </p:spTree>
    <p:extLst>
      <p:ext uri="{BB962C8B-B14F-4D97-AF65-F5344CB8AC3E}">
        <p14:creationId xmlns:p14="http://schemas.microsoft.com/office/powerpoint/2010/main" val="28031479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GB"/>
              <a:t>The Continental Legal System</a:t>
            </a:r>
          </a:p>
        </p:txBody>
      </p:sp>
      <p:sp>
        <p:nvSpPr>
          <p:cNvPr id="9219" name="Rectangle 3"/>
          <p:cNvSpPr>
            <a:spLocks noGrp="1" noChangeArrowheads="1"/>
          </p:cNvSpPr>
          <p:nvPr>
            <p:ph idx="1"/>
          </p:nvPr>
        </p:nvSpPr>
        <p:spPr/>
        <p:txBody>
          <a:bodyPr/>
          <a:lstStyle/>
          <a:p>
            <a:r>
              <a:rPr lang="en-GB"/>
              <a:t>The English system differs from the Romano-Germanic (or ‘civilian’) systems prevalent in much of Europe.  </a:t>
            </a:r>
          </a:p>
          <a:p>
            <a:r>
              <a:rPr lang="en-GB"/>
              <a:t>These systems of law are more heavily influenced by the writings of legal experts than is English law.  </a:t>
            </a:r>
          </a:p>
          <a:p>
            <a:r>
              <a:rPr lang="en-GB"/>
              <a:t>Another difference is that trials are inquisitorial in nature with the judge effectively conducting an investigation to find the truth behind an incident or claim.</a:t>
            </a:r>
          </a:p>
        </p:txBody>
      </p:sp>
    </p:spTree>
    <p:extLst>
      <p:ext uri="{BB962C8B-B14F-4D97-AF65-F5344CB8AC3E}">
        <p14:creationId xmlns:p14="http://schemas.microsoft.com/office/powerpoint/2010/main" val="30279183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GB"/>
              <a:t>The Scottish Legal System</a:t>
            </a:r>
          </a:p>
        </p:txBody>
      </p:sp>
      <p:sp>
        <p:nvSpPr>
          <p:cNvPr id="10243" name="Rectangle 3"/>
          <p:cNvSpPr>
            <a:spLocks noGrp="1" noChangeArrowheads="1"/>
          </p:cNvSpPr>
          <p:nvPr>
            <p:ph idx="1"/>
          </p:nvPr>
        </p:nvSpPr>
        <p:spPr/>
        <p:txBody>
          <a:bodyPr/>
          <a:lstStyle/>
          <a:p>
            <a:r>
              <a:rPr lang="en-GB" dirty="0"/>
              <a:t>The Scottish legal system is adversarial but it has features of both English and Continental systems.  </a:t>
            </a:r>
          </a:p>
          <a:p>
            <a:r>
              <a:rPr lang="en-GB" dirty="0"/>
              <a:t>After Scotland gained its independence at the beginning of the fourteenth century, its lawyers were trained on the continent and so Scottish law was influenced by continental practice.  </a:t>
            </a:r>
          </a:p>
          <a:p>
            <a:r>
              <a:rPr lang="en-GB" dirty="0"/>
              <a:t>This influence continued until after the union with England in  1707, finally ending when the Napoleonic wars made it impossible for Scottish lawyers to train abroad. </a:t>
            </a:r>
          </a:p>
          <a:p>
            <a:r>
              <a:rPr lang="en-GB" dirty="0"/>
              <a:t>In 1999 Scotland regained powers through devolution and can make its own decisions on domestic matters with the exception of a few domains reserved to the UK government.</a:t>
            </a:r>
          </a:p>
        </p:txBody>
      </p:sp>
    </p:spTree>
    <p:extLst>
      <p:ext uri="{BB962C8B-B14F-4D97-AF65-F5344CB8AC3E}">
        <p14:creationId xmlns:p14="http://schemas.microsoft.com/office/powerpoint/2010/main" val="9445478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GB"/>
              <a:t>Legal Systems</a:t>
            </a:r>
          </a:p>
        </p:txBody>
      </p:sp>
      <p:sp>
        <p:nvSpPr>
          <p:cNvPr id="11267" name="Rectangle 3"/>
          <p:cNvSpPr>
            <a:spLocks noGrp="1" noChangeArrowheads="1"/>
          </p:cNvSpPr>
          <p:nvPr>
            <p:ph idx="1"/>
          </p:nvPr>
        </p:nvSpPr>
        <p:spPr/>
        <p:txBody>
          <a:bodyPr/>
          <a:lstStyle/>
          <a:p>
            <a:r>
              <a:rPr lang="en-GB"/>
              <a:t>The laws relating to computing are embodied in Acts of Parliament which have effect throughout the United Kingdom </a:t>
            </a:r>
          </a:p>
          <a:p>
            <a:r>
              <a:rPr lang="en-GB"/>
              <a:t>There are, however, significant differences of procedure in Scotland and Northern Ireland. </a:t>
            </a:r>
          </a:p>
        </p:txBody>
      </p:sp>
    </p:spTree>
    <p:extLst>
      <p:ext uri="{BB962C8B-B14F-4D97-AF65-F5344CB8AC3E}">
        <p14:creationId xmlns:p14="http://schemas.microsoft.com/office/powerpoint/2010/main" val="41103378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GB" dirty="0"/>
              <a:t>Courts </a:t>
            </a:r>
          </a:p>
        </p:txBody>
      </p:sp>
      <p:sp>
        <p:nvSpPr>
          <p:cNvPr id="12291" name="Rectangle 3"/>
          <p:cNvSpPr>
            <a:spLocks noGrp="1" noChangeArrowheads="1"/>
          </p:cNvSpPr>
          <p:nvPr>
            <p:ph idx="1"/>
          </p:nvPr>
        </p:nvSpPr>
        <p:spPr/>
        <p:txBody>
          <a:bodyPr/>
          <a:lstStyle/>
          <a:p>
            <a:r>
              <a:rPr lang="en-GB"/>
              <a:t>Use of Common Law and Precedent </a:t>
            </a:r>
          </a:p>
          <a:p>
            <a:r>
              <a:rPr lang="en-GB"/>
              <a:t>Need for consistency – to avoid giving judgements that conflict with precedent. </a:t>
            </a:r>
          </a:p>
          <a:p>
            <a:r>
              <a:rPr lang="en-GB"/>
              <a:t>This need led to Law Reports which record ‘important’ judgements (those that set a precedent) – These are circulated to judges and constitute a major source of law.</a:t>
            </a:r>
          </a:p>
          <a:p>
            <a:endParaRPr lang="en-GB"/>
          </a:p>
        </p:txBody>
      </p:sp>
    </p:spTree>
    <p:extLst>
      <p:ext uri="{BB962C8B-B14F-4D97-AF65-F5344CB8AC3E}">
        <p14:creationId xmlns:p14="http://schemas.microsoft.com/office/powerpoint/2010/main" val="19900613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GB" dirty="0"/>
              <a:t>Parliament</a:t>
            </a:r>
          </a:p>
        </p:txBody>
      </p:sp>
      <p:sp>
        <p:nvSpPr>
          <p:cNvPr id="13315" name="Rectangle 3"/>
          <p:cNvSpPr>
            <a:spLocks noGrp="1" noChangeArrowheads="1"/>
          </p:cNvSpPr>
          <p:nvPr>
            <p:ph idx="1"/>
          </p:nvPr>
        </p:nvSpPr>
        <p:spPr/>
        <p:txBody>
          <a:bodyPr/>
          <a:lstStyle/>
          <a:p>
            <a:r>
              <a:rPr lang="en-GB"/>
              <a:t>Passes statutes (Acts of Parliament) </a:t>
            </a:r>
          </a:p>
          <a:p>
            <a:r>
              <a:rPr lang="en-GB"/>
              <a:t>Forms part of the law and takes precedence over any previous judicial decisions.  </a:t>
            </a:r>
          </a:p>
          <a:p>
            <a:r>
              <a:rPr lang="en-GB"/>
              <a:t>Laws may have origins: </a:t>
            </a:r>
          </a:p>
          <a:p>
            <a:pPr lvl="1"/>
            <a:r>
              <a:rPr lang="en-GB"/>
              <a:t>In lobbying and campaigns by special interest groups</a:t>
            </a:r>
          </a:p>
          <a:p>
            <a:pPr lvl="1"/>
            <a:r>
              <a:rPr lang="en-GB"/>
              <a:t>The need to fulfil treaty obligations undertaken by the government </a:t>
            </a:r>
          </a:p>
          <a:p>
            <a:pPr lvl="1"/>
            <a:r>
              <a:rPr lang="en-GB"/>
              <a:t>To reform the law to remove anomalies and address new problems.</a:t>
            </a:r>
            <a:endParaRPr lang="en-GB" dirty="0"/>
          </a:p>
        </p:txBody>
      </p:sp>
    </p:spTree>
    <p:extLst>
      <p:ext uri="{BB962C8B-B14F-4D97-AF65-F5344CB8AC3E}">
        <p14:creationId xmlns:p14="http://schemas.microsoft.com/office/powerpoint/2010/main" val="9095631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GB" dirty="0"/>
              <a:t>Parliament</a:t>
            </a:r>
          </a:p>
        </p:txBody>
      </p:sp>
      <p:sp>
        <p:nvSpPr>
          <p:cNvPr id="14339" name="Rectangle 3"/>
          <p:cNvSpPr>
            <a:spLocks noGrp="1" noChangeArrowheads="1"/>
          </p:cNvSpPr>
          <p:nvPr>
            <p:ph idx="1"/>
          </p:nvPr>
        </p:nvSpPr>
        <p:spPr/>
        <p:txBody>
          <a:bodyPr/>
          <a:lstStyle/>
          <a:p>
            <a:r>
              <a:rPr lang="en-GB"/>
              <a:t>Parliament can also grant power to make regulations and bye laws which have legal force  to local authorities and other bodies </a:t>
            </a:r>
          </a:p>
          <a:p>
            <a:r>
              <a:rPr lang="en-GB"/>
              <a:t>Usually concerned with  specific areas </a:t>
            </a:r>
          </a:p>
          <a:p>
            <a:r>
              <a:rPr lang="en-GB"/>
              <a:t>Called delegated legislation.</a:t>
            </a:r>
          </a:p>
          <a:p>
            <a:endParaRPr lang="en-GB"/>
          </a:p>
          <a:p>
            <a:endParaRPr lang="en-GB"/>
          </a:p>
        </p:txBody>
      </p:sp>
    </p:spTree>
    <p:extLst>
      <p:ext uri="{BB962C8B-B14F-4D97-AF65-F5344CB8AC3E}">
        <p14:creationId xmlns:p14="http://schemas.microsoft.com/office/powerpoint/2010/main" val="9039132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GB" dirty="0"/>
              <a:t>The European Union</a:t>
            </a:r>
          </a:p>
        </p:txBody>
      </p:sp>
      <p:sp>
        <p:nvSpPr>
          <p:cNvPr id="15363" name="Rectangle 3"/>
          <p:cNvSpPr>
            <a:spLocks noGrp="1" noChangeArrowheads="1"/>
          </p:cNvSpPr>
          <p:nvPr>
            <p:ph idx="1"/>
          </p:nvPr>
        </p:nvSpPr>
        <p:spPr/>
        <p:txBody>
          <a:bodyPr/>
          <a:lstStyle/>
          <a:p>
            <a:r>
              <a:rPr lang="en-GB" dirty="0"/>
              <a:t>The UK left the European Union on 31 January 2020 and EU legislation has stopped applying in the UK on 1</a:t>
            </a:r>
            <a:r>
              <a:rPr lang="en-GB" baseline="30000" dirty="0"/>
              <a:t>st</a:t>
            </a:r>
            <a:r>
              <a:rPr lang="en-GB" dirty="0"/>
              <a:t> January 2021.</a:t>
            </a:r>
          </a:p>
          <a:p>
            <a:r>
              <a:rPr lang="en-GB" dirty="0"/>
              <a:t>In Northern Ireland, both systems apply in order to keep the border with Ireland open.</a:t>
            </a:r>
          </a:p>
          <a:p>
            <a:r>
              <a:rPr lang="en-GB" dirty="0"/>
              <a:t>British used to need to be consistent with European law and where there was any difference it is European law that takes precedence. </a:t>
            </a:r>
          </a:p>
          <a:p>
            <a:r>
              <a:rPr lang="en-GB" dirty="0"/>
              <a:t>A lot of EU legislation was mostly duplicated into the UK legislative statute ahead of Brexit, as of 2023 there has been little divergence with the EU bloc with the exception of immigration controls.</a:t>
            </a:r>
          </a:p>
        </p:txBody>
      </p:sp>
    </p:spTree>
    <p:extLst>
      <p:ext uri="{BB962C8B-B14F-4D97-AF65-F5344CB8AC3E}">
        <p14:creationId xmlns:p14="http://schemas.microsoft.com/office/powerpoint/2010/main" val="8513555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GB"/>
              <a:t>Forms of European Legislation </a:t>
            </a:r>
          </a:p>
        </p:txBody>
      </p:sp>
      <p:sp>
        <p:nvSpPr>
          <p:cNvPr id="17411" name="Rectangle 3"/>
          <p:cNvSpPr>
            <a:spLocks noGrp="1" noChangeArrowheads="1"/>
          </p:cNvSpPr>
          <p:nvPr>
            <p:ph idx="1"/>
          </p:nvPr>
        </p:nvSpPr>
        <p:spPr/>
        <p:txBody>
          <a:bodyPr/>
          <a:lstStyle/>
          <a:p>
            <a:r>
              <a:rPr lang="en-GB" dirty="0"/>
              <a:t>Regulations – immediately become part of the law of each member state and take precedence over existing legislation</a:t>
            </a:r>
          </a:p>
          <a:p>
            <a:r>
              <a:rPr lang="en-GB" dirty="0"/>
              <a:t>Directives – instructions to member states to alter their existing laws to meet particular criteria.</a:t>
            </a:r>
          </a:p>
          <a:p>
            <a:r>
              <a:rPr lang="en-GB" dirty="0"/>
              <a:t>GDPR is an example of regulation, that applied in the UK in 2018.</a:t>
            </a:r>
          </a:p>
        </p:txBody>
      </p:sp>
    </p:spTree>
    <p:extLst>
      <p:ext uri="{BB962C8B-B14F-4D97-AF65-F5344CB8AC3E}">
        <p14:creationId xmlns:p14="http://schemas.microsoft.com/office/powerpoint/2010/main" val="26601441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GB"/>
              <a:t>Computing Legislation</a:t>
            </a:r>
            <a:endParaRPr lang="en-GB" dirty="0"/>
          </a:p>
        </p:txBody>
      </p:sp>
      <p:sp>
        <p:nvSpPr>
          <p:cNvPr id="18435" name="Rectangle 3"/>
          <p:cNvSpPr>
            <a:spLocks noGrp="1" noChangeArrowheads="1"/>
          </p:cNvSpPr>
          <p:nvPr>
            <p:ph idx="1"/>
          </p:nvPr>
        </p:nvSpPr>
        <p:spPr/>
        <p:txBody>
          <a:bodyPr/>
          <a:lstStyle/>
          <a:p>
            <a:endParaRPr lang="en-GB" dirty="0"/>
          </a:p>
          <a:p>
            <a:r>
              <a:rPr lang="en-GB" dirty="0"/>
              <a:t>The Copyright, Designs and Patents Act (1988)</a:t>
            </a:r>
          </a:p>
          <a:p>
            <a:r>
              <a:rPr lang="en-GB" dirty="0"/>
              <a:t>The Computer Misuse Act (1990)</a:t>
            </a:r>
          </a:p>
          <a:p>
            <a:r>
              <a:rPr lang="en-GB" dirty="0"/>
              <a:t>The Data Protection Act (2018)</a:t>
            </a:r>
          </a:p>
          <a:p>
            <a:r>
              <a:rPr lang="en-GB" dirty="0"/>
              <a:t>The Regulation of Investigatory Powers Act (2000)</a:t>
            </a:r>
          </a:p>
          <a:p>
            <a:r>
              <a:rPr lang="en-US" dirty="0"/>
              <a:t>The Waste Electrical and Electronic Equipment (Producer Responsibility) Regulations 2004 </a:t>
            </a:r>
            <a:endParaRPr lang="en-GB" dirty="0"/>
          </a:p>
          <a:p>
            <a:r>
              <a:rPr lang="en-GB" dirty="0"/>
              <a:t>Digital Economy Act 2010</a:t>
            </a:r>
          </a:p>
        </p:txBody>
      </p:sp>
    </p:spTree>
    <p:extLst>
      <p:ext uri="{BB962C8B-B14F-4D97-AF65-F5344CB8AC3E}">
        <p14:creationId xmlns:p14="http://schemas.microsoft.com/office/powerpoint/2010/main" val="21533195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en-GB"/>
              <a:t>Legislation that Applies to the Computing Profession</a:t>
            </a:r>
            <a:endParaRPr lang="en-US"/>
          </a:p>
        </p:txBody>
      </p:sp>
      <p:sp>
        <p:nvSpPr>
          <p:cNvPr id="80899" name="Rectangle 3"/>
          <p:cNvSpPr>
            <a:spLocks noGrp="1" noChangeArrowheads="1"/>
          </p:cNvSpPr>
          <p:nvPr>
            <p:ph idx="1"/>
          </p:nvPr>
        </p:nvSpPr>
        <p:spPr/>
        <p:txBody>
          <a:bodyPr/>
          <a:lstStyle/>
          <a:p>
            <a:endParaRPr lang="en-GB" dirty="0"/>
          </a:p>
          <a:p>
            <a:r>
              <a:rPr lang="en-GB" dirty="0"/>
              <a:t>The Health and Safety at Work etc Act (1974)</a:t>
            </a:r>
          </a:p>
          <a:p>
            <a:r>
              <a:rPr lang="en-GB" dirty="0"/>
              <a:t>The Consumer Protection Act (1987)</a:t>
            </a:r>
          </a:p>
          <a:p>
            <a:r>
              <a:rPr lang="en-GB" dirty="0"/>
              <a:t>The Human Rights Act (1998)</a:t>
            </a:r>
          </a:p>
          <a:p>
            <a:r>
              <a:rPr lang="en-US" dirty="0"/>
              <a:t>Anti-Terrorism, Crime &amp; Security Act 2001</a:t>
            </a:r>
          </a:p>
          <a:p>
            <a:r>
              <a:rPr lang="en-US" dirty="0"/>
              <a:t>The Privacy and Electronic Communications Regulations 2003 </a:t>
            </a:r>
            <a:endParaRPr lang="en-GB" dirty="0"/>
          </a:p>
          <a:p>
            <a:r>
              <a:rPr lang="en-GB" dirty="0"/>
              <a:t>The Equality Act (2010)</a:t>
            </a:r>
          </a:p>
          <a:p>
            <a:endParaRPr lang="en-US" dirty="0"/>
          </a:p>
        </p:txBody>
      </p:sp>
    </p:spTree>
    <p:extLst>
      <p:ext uri="{BB962C8B-B14F-4D97-AF65-F5344CB8AC3E}">
        <p14:creationId xmlns:p14="http://schemas.microsoft.com/office/powerpoint/2010/main" val="11863975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1_Adjacency">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90</TotalTime>
  <Words>753</Words>
  <Application>Microsoft Macintosh PowerPoint</Application>
  <PresentationFormat>Widescreen</PresentationFormat>
  <Paragraphs>66</Paragraphs>
  <Slides>14</Slides>
  <Notes>1</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14</vt:i4>
      </vt:variant>
    </vt:vector>
  </HeadingPairs>
  <TitlesOfParts>
    <vt:vector size="18" baseType="lpstr">
      <vt:lpstr>Arial</vt:lpstr>
      <vt:lpstr>Calibri</vt:lpstr>
      <vt:lpstr>Adjacency</vt:lpstr>
      <vt:lpstr>1_Adjacency</vt:lpstr>
      <vt:lpstr>Introduction to Legislation</vt:lpstr>
      <vt:lpstr>What are laws?</vt:lpstr>
      <vt:lpstr>UK Legal systems</vt:lpstr>
      <vt:lpstr>The English Legal System</vt:lpstr>
      <vt:lpstr>The Continental Legal System</vt:lpstr>
      <vt:lpstr>The Scottish Legal System</vt:lpstr>
      <vt:lpstr>Legal Systems</vt:lpstr>
      <vt:lpstr>Courts </vt:lpstr>
      <vt:lpstr>Parliament</vt:lpstr>
      <vt:lpstr>Parliament</vt:lpstr>
      <vt:lpstr>The European Union</vt:lpstr>
      <vt:lpstr>Forms of European Legislation </vt:lpstr>
      <vt:lpstr>Computing Legislation</vt:lpstr>
      <vt:lpstr>Legislation that Applies to the Computing Profession</vt:lpstr>
    </vt:vector>
  </TitlesOfParts>
  <Company>Fife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Aurelien Ammeloot</dc:creator>
  <cp:lastModifiedBy>Aurelien Ammeloot</cp:lastModifiedBy>
  <cp:revision>10</cp:revision>
  <dcterms:created xsi:type="dcterms:W3CDTF">2017-10-25T10:22:25Z</dcterms:created>
  <dcterms:modified xsi:type="dcterms:W3CDTF">2023-10-25T11:45:19Z</dcterms:modified>
</cp:coreProperties>
</file>